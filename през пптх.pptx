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695" cy="6858000"/>
  <p:notesSz cx="12191695" cy="6858000"/>
  <p:defaultTextStyle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Slide master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 bwMode="auto"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dt="0" ftr="0" hdr="0" sldNum="0"/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 bwMode="auto">
          <a:xfrm>
            <a:off x="5233360" y="153888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3700" spc="-112">
                <a:solidFill>
                  <a:srgbClr val="2C3F42"/>
                </a:solidFill>
                <a:latin typeface="Bitter Medium"/>
                <a:ea typeface="Bitter Medium"/>
                <a:cs typeface="Bitter Medium"/>
              </a:rPr>
              <a:t>Разбор фильма «Социальная сеть» (The Social Network), 2010</a:t>
            </a:r>
            <a:endParaRPr lang="en-US" sz="3700"/>
          </a:p>
        </p:txBody>
      </p:sp>
      <p:sp>
        <p:nvSpPr>
          <p:cNvPr id="4" name="Text 1"/>
          <p:cNvSpPr/>
          <p:nvPr/>
        </p:nvSpPr>
        <p:spPr bwMode="auto">
          <a:xfrm>
            <a:off x="5233360" y="3594298"/>
            <a:ext cx="6296860" cy="172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Работу выполнили: Ходырев Григорий, Неволин Артём, Митраков Александр</a:t>
            </a:r>
            <a:endParaRPr lang="en-US" sz="1450"/>
          </a:p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Краткий путеводитель по презентации: жанр и контекст, сюжет без спойлеров, исторические совпадения и расхождения, художественные приёмы, реакция зрителей и наша оценка.</a:t>
            </a:r>
            <a:endParaRPr lang="en-US" sz="1450"/>
          </a:p>
        </p:txBody>
      </p:sp>
      <p:pic>
        <p:nvPicPr>
          <p:cNvPr id="12155191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67760" y="6010274"/>
            <a:ext cx="2219325" cy="84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661475" y="211306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950" spc="-89">
                <a:solidFill>
                  <a:srgbClr val="2C3F42"/>
                </a:solidFill>
                <a:latin typeface="Bitter Medium"/>
                <a:ea typeface="Bitter Medium"/>
                <a:cs typeface="Bitter Medium"/>
              </a:rPr>
              <a:t>Что за фильм и его жанр</a:t>
            </a:r>
            <a:endParaRPr lang="en-US" sz="2950"/>
          </a:p>
        </p:txBody>
      </p:sp>
      <p:sp>
        <p:nvSpPr>
          <p:cNvPr id="3" name="Text 1"/>
          <p:cNvSpPr/>
          <p:nvPr/>
        </p:nvSpPr>
        <p:spPr bwMode="auto">
          <a:xfrm>
            <a:off x="661475" y="2869009"/>
            <a:ext cx="10868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«Социальная сеть» — биографическая драма с элементами триллера и судебной картины. Режиссёр: Дэвид Финчер; сценарий: Аарон Соркин. Фильм показывает rise-and-conflict историю создания социальной сети Facebook и юридические споры вокруг неё.</a:t>
            </a:r>
            <a:endParaRPr lang="en-US" sz="1450"/>
          </a:p>
        </p:txBody>
      </p:sp>
      <p:sp>
        <p:nvSpPr>
          <p:cNvPr id="4" name="Shape 2"/>
          <p:cNvSpPr/>
          <p:nvPr/>
        </p:nvSpPr>
        <p:spPr bwMode="auto">
          <a:xfrm>
            <a:off x="661475" y="3988891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FCE2C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50482" y="4256584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 bwMode="auto">
          <a:xfrm>
            <a:off x="1275723" y="4225131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450" spc="-3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Тон фильма холодный, аналитический — акцент на диалоге и напряжении, а не на романтизации успеха.</a:t>
            </a:r>
            <a:endParaRPr lang="en-US" sz="1450"/>
          </a:p>
        </p:txBody>
      </p:sp>
      <p:pic>
        <p:nvPicPr>
          <p:cNvPr id="12826566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67760" y="6010274"/>
            <a:ext cx="2219325" cy="84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68539" y="668139"/>
            <a:ext cx="3769028" cy="552172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 bwMode="auto">
          <a:xfrm>
            <a:off x="5124817" y="2942630"/>
            <a:ext cx="641165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750" spc="-52">
                <a:solidFill>
                  <a:srgbClr val="2C3F42"/>
                </a:solidFill>
                <a:latin typeface="Bitter Medium"/>
                <a:ea typeface="Bitter Medium"/>
                <a:cs typeface="Bitter Medium"/>
              </a:rPr>
              <a:t>Краткая характеристика сюжета </a:t>
            </a:r>
            <a:endParaRPr lang="en-US" sz="1750"/>
          </a:p>
        </p:txBody>
      </p:sp>
      <p:sp>
        <p:nvSpPr>
          <p:cNvPr id="4" name="Text 1"/>
          <p:cNvSpPr/>
          <p:nvPr/>
        </p:nvSpPr>
        <p:spPr bwMode="auto">
          <a:xfrm>
            <a:off x="5124817" y="3289697"/>
            <a:ext cx="6411653" cy="632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spcAft>
                <a:spcPts val="450"/>
              </a:spcAft>
              <a:buNone/>
              <a:defRPr/>
            </a:pPr>
            <a:r>
              <a:rPr lang="en-US" sz="850" spc="-18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Фильм рассказывает о студенте-программисте, который создал продукт, изменивший общение в интернете. Центральные элементы: идея, быстрый рост проекта, личные и юридические конфликты. Завязка строится вокруг возникновения идеи и первых технических/социальных решений.</a:t>
            </a:r>
            <a:endParaRPr lang="en-US" sz="850"/>
          </a:p>
          <a:p>
            <a:pPr marL="0" indent="0" algn="l">
              <a:lnSpc>
                <a:spcPct val="106000"/>
              </a:lnSpc>
              <a:buNone/>
              <a:defRPr/>
            </a:pPr>
            <a:r>
              <a:rPr lang="en-US" sz="850" spc="-18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Фокус — не только на успехе, но и на взаимоотношениях, предательстве и последствиях амбиций.</a:t>
            </a:r>
            <a:endParaRPr lang="en-US" sz="850"/>
          </a:p>
        </p:txBody>
      </p:sp>
      <p:pic>
        <p:nvPicPr>
          <p:cNvPr id="5288874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67760" y="6010274"/>
            <a:ext cx="2219325" cy="84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0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4454" y="1968003"/>
            <a:ext cx="4382879" cy="292199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 bwMode="auto">
          <a:xfrm>
            <a:off x="5233360" y="1801217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950" spc="-89">
                <a:solidFill>
                  <a:srgbClr val="2C3F42"/>
                </a:solidFill>
                <a:latin typeface="Bitter Medium"/>
                <a:ea typeface="Bitter Medium"/>
                <a:cs typeface="Bitter Medium"/>
              </a:rPr>
              <a:t>Исторический контекст и личности</a:t>
            </a:r>
            <a:endParaRPr lang="en-US" sz="2950"/>
          </a:p>
        </p:txBody>
      </p:sp>
      <p:sp>
        <p:nvSpPr>
          <p:cNvPr id="5" name="Text 1"/>
          <p:cNvSpPr/>
          <p:nvPr/>
        </p:nvSpPr>
        <p:spPr bwMode="auto">
          <a:xfrm>
            <a:off x="5233360" y="3029645"/>
            <a:ext cx="6296860" cy="2027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Действие связано с реальными событиями: создание Facebook в начале 2000-х, кампус Гарварда и фигуры, близкие к основателям (прототипы главных персонажей — Марк Цукерберг, сооснователи и первые инвесторы).</a:t>
            </a:r>
            <a:endParaRPr lang="en-US" sz="1450"/>
          </a:p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Фильм опирается на реальные судебные иска, публичные интервью и книгу Бена Мезрича, ставшую источником для сценария.</a:t>
            </a:r>
            <a:endParaRPr lang="en-US" sz="1450"/>
          </a:p>
        </p:txBody>
      </p:sp>
      <p:pic>
        <p:nvPicPr>
          <p:cNvPr id="15880425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967760" y="6010274"/>
            <a:ext cx="2219325" cy="84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661475" y="1408212"/>
            <a:ext cx="916917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950" spc="-89">
                <a:solidFill>
                  <a:srgbClr val="2C3F42"/>
                </a:solidFill>
                <a:latin typeface="Bitter Medium"/>
                <a:ea typeface="Bitter Medium"/>
                <a:cs typeface="Bitter Medium"/>
              </a:rPr>
              <a:t>Отличия от реальной истории</a:t>
            </a:r>
            <a:endParaRPr lang="en-US" sz="2950"/>
          </a:p>
        </p:txBody>
      </p:sp>
      <p:sp>
        <p:nvSpPr>
          <p:cNvPr id="3" name="Text 1"/>
          <p:cNvSpPr/>
          <p:nvPr/>
        </p:nvSpPr>
        <p:spPr bwMode="auto">
          <a:xfrm>
            <a:off x="661475" y="2069703"/>
            <a:ext cx="9169171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Важно: фильм не претендует на документальную точность — это художественная версия на базе реальных фактов.</a:t>
            </a:r>
            <a:endParaRPr lang="en-US" sz="145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61475" y="3057227"/>
            <a:ext cx="3496877" cy="25815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 bwMode="auto">
          <a:xfrm>
            <a:off x="2296410" y="319901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750" spc="-45">
                <a:solidFill>
                  <a:srgbClr val="FFFFFF"/>
                </a:solidFill>
                <a:latin typeface="Bitter Medium"/>
                <a:ea typeface="Bitter Medium"/>
                <a:cs typeface="Bitter Medium"/>
              </a:rPr>
              <a:t>1</a:t>
            </a:r>
            <a:endParaRPr lang="en-US" sz="1750"/>
          </a:p>
        </p:txBody>
      </p:sp>
      <p:sp>
        <p:nvSpPr>
          <p:cNvPr id="6" name="Text 3"/>
          <p:cNvSpPr/>
          <p:nvPr/>
        </p:nvSpPr>
        <p:spPr bwMode="auto">
          <a:xfrm>
            <a:off x="875881" y="3813175"/>
            <a:ext cx="3068065" cy="29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50" spc="-56">
                <a:solidFill>
                  <a:srgbClr val="2B2E3C"/>
                </a:solidFill>
                <a:latin typeface="Bitter Medium"/>
                <a:ea typeface="Bitter Medium"/>
                <a:cs typeface="Bitter Medium"/>
              </a:rPr>
              <a:t>Упрощение хронологии</a:t>
            </a:r>
            <a:endParaRPr lang="en-US" sz="1850"/>
          </a:p>
        </p:txBody>
      </p:sp>
      <p:sp>
        <p:nvSpPr>
          <p:cNvPr id="7" name="Text 4"/>
          <p:cNvSpPr/>
          <p:nvPr/>
        </p:nvSpPr>
        <p:spPr bwMode="auto">
          <a:xfrm>
            <a:off x="875881" y="4221857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События объединены и переставлены для драматичного эффекта.</a:t>
            </a:r>
            <a:endParaRPr lang="en-US" sz="145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347359" y="3057227"/>
            <a:ext cx="3496877" cy="25815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 bwMode="auto">
          <a:xfrm>
            <a:off x="5982294" y="319901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750" spc="-45">
                <a:solidFill>
                  <a:srgbClr val="FFFFFF"/>
                </a:solidFill>
                <a:latin typeface="Bitter Medium"/>
                <a:ea typeface="Bitter Medium"/>
                <a:cs typeface="Bitter Medium"/>
              </a:rPr>
              <a:t>2</a:t>
            </a:r>
            <a:endParaRPr lang="en-US" sz="1750"/>
          </a:p>
        </p:txBody>
      </p:sp>
      <p:sp>
        <p:nvSpPr>
          <p:cNvPr id="10" name="Text 6"/>
          <p:cNvSpPr/>
          <p:nvPr/>
        </p:nvSpPr>
        <p:spPr bwMode="auto">
          <a:xfrm>
            <a:off x="4561766" y="3813175"/>
            <a:ext cx="3068065" cy="590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50" spc="-56">
                <a:solidFill>
                  <a:srgbClr val="2B2E3C"/>
                </a:solidFill>
                <a:latin typeface="Bitter Medium"/>
                <a:ea typeface="Bitter Medium"/>
                <a:cs typeface="Bitter Medium"/>
              </a:rPr>
              <a:t>Сильная персонализация конфликтов</a:t>
            </a:r>
            <a:endParaRPr lang="en-US" sz="1850"/>
          </a:p>
        </p:txBody>
      </p:sp>
      <p:sp>
        <p:nvSpPr>
          <p:cNvPr id="11" name="Text 7"/>
          <p:cNvSpPr/>
          <p:nvPr/>
        </p:nvSpPr>
        <p:spPr bwMode="auto">
          <a:xfrm>
            <a:off x="4561766" y="4517132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Некоторые мотивы и диалоги приписаны персонажам для усиления напряжения.</a:t>
            </a:r>
            <a:endParaRPr lang="en-US" sz="145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033244" y="3057227"/>
            <a:ext cx="3496877" cy="258157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 bwMode="auto">
          <a:xfrm>
            <a:off x="9668179" y="319901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  <a:defRPr/>
            </a:pPr>
            <a:r>
              <a:rPr lang="en-US" sz="1750" spc="-45">
                <a:solidFill>
                  <a:srgbClr val="FFFFFF"/>
                </a:solidFill>
                <a:latin typeface="Bitter Medium"/>
                <a:ea typeface="Bitter Medium"/>
                <a:cs typeface="Bitter Medium"/>
              </a:rPr>
              <a:t>3</a:t>
            </a:r>
            <a:endParaRPr lang="en-US" sz="1750"/>
          </a:p>
        </p:txBody>
      </p:sp>
      <p:sp>
        <p:nvSpPr>
          <p:cNvPr id="14" name="Text 9"/>
          <p:cNvSpPr/>
          <p:nvPr/>
        </p:nvSpPr>
        <p:spPr bwMode="auto">
          <a:xfrm>
            <a:off x="8247650" y="3813175"/>
            <a:ext cx="3068065" cy="590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50" spc="-56">
                <a:solidFill>
                  <a:srgbClr val="2B2E3C"/>
                </a:solidFill>
                <a:latin typeface="Bitter Medium"/>
                <a:ea typeface="Bitter Medium"/>
                <a:cs typeface="Bitter Medium"/>
              </a:rPr>
              <a:t>Интерпретация судебных споров</a:t>
            </a:r>
            <a:endParaRPr lang="en-US" sz="1850"/>
          </a:p>
        </p:txBody>
      </p:sp>
      <p:sp>
        <p:nvSpPr>
          <p:cNvPr id="15" name="Text 10"/>
          <p:cNvSpPr/>
          <p:nvPr/>
        </p:nvSpPr>
        <p:spPr bwMode="auto">
          <a:xfrm>
            <a:off x="8247650" y="4517132"/>
            <a:ext cx="306806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Процессы показаны концентрированно — ради темпа и структуры повествования.</a:t>
            </a:r>
            <a:endParaRPr lang="en-US" sz="1450"/>
          </a:p>
        </p:txBody>
      </p:sp>
      <p:pic>
        <p:nvPicPr>
          <p:cNvPr id="156855615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67760" y="6010274"/>
            <a:ext cx="2219325" cy="84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61475" y="572889"/>
            <a:ext cx="6983932" cy="85495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 bwMode="auto">
          <a:xfrm>
            <a:off x="7882336" y="4228703"/>
            <a:ext cx="3654135" cy="472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450" spc="-45">
                <a:solidFill>
                  <a:srgbClr val="2C3F42"/>
                </a:solidFill>
                <a:latin typeface="Bitter Medium"/>
                <a:ea typeface="Bitter Medium"/>
                <a:cs typeface="Bitter Medium"/>
              </a:rPr>
              <a:t>Почему внесли изменения — мотивация создателей</a:t>
            </a:r>
            <a:endParaRPr lang="en-US" sz="1450"/>
          </a:p>
        </p:txBody>
      </p:sp>
      <p:sp>
        <p:nvSpPr>
          <p:cNvPr id="4" name="Text 1"/>
          <p:cNvSpPr/>
          <p:nvPr/>
        </p:nvSpPr>
        <p:spPr bwMode="auto">
          <a:xfrm>
            <a:off x="7882336" y="4748411"/>
            <a:ext cx="3654135" cy="722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300"/>
              </a:spcAft>
              <a:buNone/>
              <a:defRPr/>
            </a:pPr>
            <a:r>
              <a:rPr lang="en-US" sz="700" spc="-15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Изменения служат драматургии: укороченная хронология и усиленные конфликты делают историю компактнее и эмоционально насыщеннее. Сценарий Аарона Соркина строит акцент на диалогах и характере героев.</a:t>
            </a:r>
            <a:endParaRPr lang="en-US" sz="700"/>
          </a:p>
          <a:p>
            <a:pPr marL="0" indent="0" algn="l">
              <a:lnSpc>
                <a:spcPct val="100000"/>
              </a:lnSpc>
              <a:buNone/>
              <a:defRPr/>
            </a:pPr>
            <a:r>
              <a:rPr lang="en-US" sz="700" spc="-15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Некоторые интервью и источники (авторы, продюсеры) прямо указывают, что цель — не дать биографию, а исследовать цену успеха и природу отношений в эпоху цифрового роста.</a:t>
            </a:r>
            <a:endParaRPr lang="en-US" sz="700"/>
          </a:p>
        </p:txBody>
      </p:sp>
      <p:pic>
        <p:nvPicPr>
          <p:cNvPr id="183460989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67760" y="6010274"/>
            <a:ext cx="2219325" cy="84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661475" y="1740892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950" spc="-89">
                <a:solidFill>
                  <a:srgbClr val="2C3F42"/>
                </a:solidFill>
                <a:latin typeface="Bitter Medium"/>
                <a:ea typeface="Bitter Medium"/>
                <a:cs typeface="Bitter Medium"/>
              </a:rPr>
              <a:t>Художественные приёмы: картинка, звук, монтаж</a:t>
            </a:r>
            <a:endParaRPr lang="en-US" sz="29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61475" y="2591395"/>
            <a:ext cx="762378" cy="4711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 bwMode="auto">
          <a:xfrm>
            <a:off x="1660087" y="2591395"/>
            <a:ext cx="2466814" cy="29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50" spc="-56">
                <a:solidFill>
                  <a:srgbClr val="2B2E3C"/>
                </a:solidFill>
                <a:latin typeface="Bitter Medium"/>
                <a:ea typeface="Bitter Medium"/>
                <a:cs typeface="Bitter Medium"/>
              </a:rPr>
              <a:t>Цветокоррекция</a:t>
            </a:r>
            <a:endParaRPr lang="en-US" sz="1850"/>
          </a:p>
        </p:txBody>
      </p:sp>
      <p:sp>
        <p:nvSpPr>
          <p:cNvPr id="5" name="Text 2"/>
          <p:cNvSpPr/>
          <p:nvPr/>
        </p:nvSpPr>
        <p:spPr bwMode="auto">
          <a:xfrm>
            <a:off x="1660087" y="3000077"/>
            <a:ext cx="246681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Преобладают холодные, стальные оттенки и локальные тёплые акценты — подчёркивают эмоциональную отчуждённость.</a:t>
            </a:r>
            <a:endParaRPr lang="en-US" sz="145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3135" y="2591395"/>
            <a:ext cx="762378" cy="4711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 bwMode="auto">
          <a:xfrm>
            <a:off x="5361745" y="2591395"/>
            <a:ext cx="2466814" cy="29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50" spc="-56">
                <a:solidFill>
                  <a:srgbClr val="2B2E3C"/>
                </a:solidFill>
                <a:latin typeface="Bitter Medium"/>
                <a:ea typeface="Bitter Medium"/>
                <a:cs typeface="Bitter Medium"/>
              </a:rPr>
              <a:t>Звук и музыка</a:t>
            </a:r>
            <a:endParaRPr lang="en-US" sz="1850"/>
          </a:p>
        </p:txBody>
      </p:sp>
      <p:sp>
        <p:nvSpPr>
          <p:cNvPr id="8" name="Text 4"/>
          <p:cNvSpPr/>
          <p:nvPr/>
        </p:nvSpPr>
        <p:spPr bwMode="auto">
          <a:xfrm>
            <a:off x="5361745" y="3000077"/>
            <a:ext cx="2466814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Сдержанный саундтрек Трент Резнор / Аттикус Росс: минималистичные мотивы создают напряжение и ритм, подчёркивают внутреннее состояние героев.</a:t>
            </a:r>
            <a:endParaRPr lang="en-US" sz="145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064794" y="2591395"/>
            <a:ext cx="762378" cy="47119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 bwMode="auto">
          <a:xfrm>
            <a:off x="9063406" y="2591395"/>
            <a:ext cx="2466814" cy="29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1850" spc="-56">
                <a:solidFill>
                  <a:srgbClr val="2B2E3C"/>
                </a:solidFill>
                <a:latin typeface="Bitter Medium"/>
                <a:ea typeface="Bitter Medium"/>
                <a:cs typeface="Bitter Medium"/>
              </a:rPr>
              <a:t>Монтаж и кадр</a:t>
            </a:r>
            <a:endParaRPr lang="en-US" sz="1850"/>
          </a:p>
        </p:txBody>
      </p:sp>
      <p:sp>
        <p:nvSpPr>
          <p:cNvPr id="11" name="Text 6"/>
          <p:cNvSpPr/>
          <p:nvPr/>
        </p:nvSpPr>
        <p:spPr bwMode="auto">
          <a:xfrm>
            <a:off x="9063406" y="3000077"/>
            <a:ext cx="2466814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Динамичный монтаж, резкие переходы и крупные планы усиливают драму; композиция кадров часто асимметрична, подчёркивая социальную дистанцию.</a:t>
            </a:r>
            <a:endParaRPr lang="en-US" sz="1450"/>
          </a:p>
        </p:txBody>
      </p:sp>
      <p:pic>
        <p:nvPicPr>
          <p:cNvPr id="1614917847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9967760" y="6010274"/>
            <a:ext cx="2219325" cy="84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661475" y="1006574"/>
            <a:ext cx="5203794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950" spc="-89">
                <a:solidFill>
                  <a:srgbClr val="2C3F42"/>
                </a:solidFill>
                <a:latin typeface="Bitter Medium"/>
                <a:ea typeface="Bitter Medium"/>
                <a:cs typeface="Bitter Medium"/>
              </a:rPr>
              <a:t>Реакция зрителей и критика</a:t>
            </a:r>
            <a:endParaRPr lang="en-US" sz="2950"/>
          </a:p>
        </p:txBody>
      </p:sp>
      <p:sp>
        <p:nvSpPr>
          <p:cNvPr id="3" name="Text 1"/>
          <p:cNvSpPr/>
          <p:nvPr/>
        </p:nvSpPr>
        <p:spPr bwMode="auto">
          <a:xfrm>
            <a:off x="661475" y="1668066"/>
            <a:ext cx="5203794" cy="3156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Зарубежные отзывы: высокая оценка сценария, режиссуры и актёрской игры; хвалят фильм за интеллектуальную остроту.</a:t>
            </a:r>
            <a:endParaRPr lang="en-US" sz="1450"/>
          </a:p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Российская аудитория: интерес к теме цифровой трансформации и конфликтам стартапов; отмечают скорость повествования, иногда — холодность образов.</a:t>
            </a:r>
            <a:endParaRPr lang="en-US" sz="1450"/>
          </a:p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Критика: обвинения в искажении фактов со стороны некоторых участников реальных событий; дискуссия о правде vs драме.</a:t>
            </a:r>
            <a:endParaRPr lang="en-US" sz="145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332776" y="1367433"/>
            <a:ext cx="5203794" cy="297318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 bwMode="auto">
          <a:xfrm>
            <a:off x="661475" y="5150346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2B2E3C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 bwMode="auto">
          <a:xfrm>
            <a:off x="661475" y="5435600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Ключевое: фильм важен как культурный артефакт эпохи интернета — вызывает вопросы о власти, дружбе и ответственности.</a:t>
            </a:r>
            <a:endParaRPr lang="en-US" sz="1450"/>
          </a:p>
        </p:txBody>
      </p:sp>
      <p:pic>
        <p:nvPicPr>
          <p:cNvPr id="146221826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67760" y="6010274"/>
            <a:ext cx="2219325" cy="84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 bwMode="auto">
          <a:xfrm>
            <a:off x="661475" y="176341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950" spc="-89">
                <a:solidFill>
                  <a:srgbClr val="2C3F42"/>
                </a:solidFill>
                <a:latin typeface="Bitter Medium"/>
                <a:ea typeface="Bitter Medium"/>
                <a:cs typeface="Bitter Medium"/>
              </a:rPr>
              <a:t>Наше впечатление и рекомендация</a:t>
            </a:r>
            <a:endParaRPr lang="en-US" sz="2950"/>
          </a:p>
        </p:txBody>
      </p:sp>
      <p:sp>
        <p:nvSpPr>
          <p:cNvPr id="3" name="Text 1"/>
          <p:cNvSpPr/>
          <p:nvPr/>
        </p:nvSpPr>
        <p:spPr bwMode="auto">
          <a:xfrm>
            <a:off x="661475" y="2613918"/>
            <a:ext cx="10868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Фильм оставляет сильное интеллектуальное впечатление: блестящий сценарий, точная режиссура и сильные актёрские работы. Он отлично подходит для анализа — как пример современной биографической драмы, где факт и интерпретация сосуществуют.</a:t>
            </a:r>
            <a:endParaRPr lang="en-US" sz="1450"/>
          </a:p>
        </p:txBody>
      </p:sp>
      <p:sp>
        <p:nvSpPr>
          <p:cNvPr id="4" name="Shape 2"/>
          <p:cNvSpPr/>
          <p:nvPr/>
        </p:nvSpPr>
        <p:spPr bwMode="auto">
          <a:xfrm>
            <a:off x="661475" y="3733800"/>
            <a:ext cx="10868745" cy="1360785"/>
          </a:xfrm>
          <a:prstGeom prst="roundRect">
            <a:avLst>
              <a:gd name="adj" fmla="val 5834"/>
            </a:avLst>
          </a:prstGeom>
          <a:solidFill>
            <a:srgbClr val="FCE2C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50482" y="4001492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 bwMode="auto">
          <a:xfrm>
            <a:off x="1275723" y="3970040"/>
            <a:ext cx="1006549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  <a:defRPr/>
            </a:pPr>
            <a:r>
              <a:rPr lang="en-US" sz="1450" spc="-30">
                <a:solidFill>
                  <a:srgbClr val="000000"/>
                </a:solidFill>
                <a:latin typeface="Open Sans"/>
                <a:ea typeface="Open Sans"/>
                <a:cs typeface="Open Sans"/>
              </a:rPr>
              <a:t>Рекомендуем к просмотру тем, кто интересуется медиа, IT-историями и этическими дилеммами успеха. Перед показом аудитории полезно подготовить обсуждение: какие изменения допустимы в художественной биографии?</a:t>
            </a:r>
            <a:endParaRPr lang="en-US" sz="1450"/>
          </a:p>
        </p:txBody>
      </p:sp>
      <p:pic>
        <p:nvPicPr>
          <p:cNvPr id="18507184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67760" y="6010274"/>
            <a:ext cx="2219325" cy="84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Slide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 bwMode="auto">
          <a:xfrm>
            <a:off x="661475" y="1267420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  <a:defRPr/>
            </a:pPr>
            <a:r>
              <a:rPr lang="en-US" sz="2950" spc="-89">
                <a:solidFill>
                  <a:srgbClr val="2C3F42"/>
                </a:solidFill>
                <a:latin typeface="Bitter Medium"/>
                <a:ea typeface="Bitter Medium"/>
                <a:cs typeface="Bitter Medium"/>
              </a:rPr>
              <a:t>Ключевые выводы — кратко</a:t>
            </a:r>
            <a:endParaRPr lang="en-US" sz="2950"/>
          </a:p>
        </p:txBody>
      </p:sp>
      <p:sp>
        <p:nvSpPr>
          <p:cNvPr id="4" name="Text 1"/>
          <p:cNvSpPr/>
          <p:nvPr/>
        </p:nvSpPr>
        <p:spPr bwMode="auto">
          <a:xfrm>
            <a:off x="661475" y="2023368"/>
            <a:ext cx="6296860" cy="3052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Жанр: биографическая драма с элементами судебной истории.</a:t>
            </a:r>
            <a:endParaRPr lang="en-US" sz="1450"/>
          </a:p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Сюжет: возникновение идеи и последствия </a:t>
            </a:r>
            <a:endParaRPr lang="en-US" sz="1450"/>
          </a:p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История основана на реальных событиях, но драматизирована.</a:t>
            </a:r>
            <a:endParaRPr lang="en-US" sz="1450"/>
          </a:p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Художественные приёмы: холодная цветовая палитра, минималистичная музыка, монтаж.</a:t>
            </a:r>
            <a:endParaRPr lang="en-US" sz="1450"/>
          </a:p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Реакция: международное признание, локальная дискуссия о точности фактов.</a:t>
            </a:r>
            <a:endParaRPr lang="en-US" sz="1450"/>
          </a:p>
          <a:p>
            <a:pPr marL="294640" indent="-294640" algn="l">
              <a:lnSpc>
                <a:spcPct val="133000"/>
              </a:lnSpc>
              <a:buSzPct val="100000"/>
              <a:buChar char="•"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Рекомендация: смотреть и анализировать — особенно для учебных обсуждений.</a:t>
            </a:r>
            <a:endParaRPr lang="en-US" sz="1450"/>
          </a:p>
        </p:txBody>
      </p:sp>
      <p:sp>
        <p:nvSpPr>
          <p:cNvPr id="5" name="Text 2"/>
          <p:cNvSpPr/>
          <p:nvPr/>
        </p:nvSpPr>
        <p:spPr bwMode="auto">
          <a:xfrm>
            <a:off x="356682" y="5288161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  <a:defRPr/>
            </a:pPr>
            <a:r>
              <a:rPr lang="en-US" sz="1450" spc="-30">
                <a:solidFill>
                  <a:srgbClr val="2B2E3C"/>
                </a:solidFill>
                <a:latin typeface="Open Sans"/>
                <a:ea typeface="Open Sans"/>
                <a:cs typeface="Open Sans"/>
              </a:rPr>
              <a:t>Спасибо за внимание. </a:t>
            </a:r>
            <a:endParaRPr lang="en-US" sz="14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On-screen Show (16:9)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>Гришаня Ходырев</cp:lastModifiedBy>
  <cp:revision>2</cp:revision>
  <dcterms:created xsi:type="dcterms:W3CDTF">2026-09-25T12:50:28Z</dcterms:created>
  <dcterms:modified xsi:type="dcterms:W3CDTF">2026-09-25T12:52:22Z</dcterms:modified>
  <cp:category/>
  <cp:contentStatus/>
  <cp:version/>
</cp:coreProperties>
</file>